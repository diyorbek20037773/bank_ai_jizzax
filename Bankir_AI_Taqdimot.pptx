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463040"/>
            <a:ext cx="5029200" cy="5029200"/>
          </a:xfrm>
          <a:prstGeom prst="ellipse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3474720"/>
            <a:ext cx="4114800" cy="4114800"/>
          </a:xfrm>
          <a:prstGeom prst="ellipse">
            <a:avLst/>
          </a:prstGeom>
          <a:solidFill>
            <a:srgbClr val="0E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7840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Segoe UI"/>
              </a:rPr>
              <a:t>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9601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BANKIR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8778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Bank aktivlarini </a:t>
            </a:r>
            <a:r>
              <a:rPr sz="4600" b="1" i="0">
                <a:solidFill>
                  <a:srgbClr val="F59E0B"/>
                </a:solidFill>
                <a:latin typeface="Segoe UI"/>
              </a:rPr>
              <a:t>AI</a:t>
            </a:r>
            <a:r>
              <a:rPr sz="4600" b="1" i="0">
                <a:solidFill>
                  <a:srgbClr val="FFFFFF"/>
                </a:solidFill>
                <a:latin typeface="Segoe UI"/>
              </a:rPr>
              <a:t> bilan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boshqaruv tizimi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2D2EE"/>
                </a:solidFill>
                <a:latin typeface="Segoe UI"/>
              </a:rPr>
              <a:t>Kompyuter, mebel va texnikani — QR-kod, audit jurnali va Gemini AI bilan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2D2EE"/>
                </a:solidFill>
                <a:latin typeface="Segoe UI"/>
              </a:rPr>
              <a:t>bitta zamonaviy platformada boshqaring.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2648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2727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Jizzax AI Hackathon 2026</a:t>
            </a:r>
            <a:r>
              <a:rPr sz="1400" b="0" i="0">
                <a:solidFill>
                  <a:srgbClr val="9CB3D6"/>
                </a:solidFill>
                <a:latin typeface="Segoe UI"/>
              </a:rPr>
              <a:t>   ·   Bank Asset Management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627278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CB3D6"/>
                </a:solidFill>
                <a:latin typeface="Segoe UI"/>
              </a:rPr>
              <a:t>FastAPI · React ·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F4444"/>
                </a:solidFill>
                <a:latin typeface="Segoe UI"/>
              </a:rPr>
              <a:t>NEGA KERAK?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Muammo: aktivlar Excel va qog'ozda yuritiladi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4155"/>
                </a:solidFill>
                <a:latin typeface="Segoe UI"/>
              </a:rPr>
              <a:t>Bank ofislarida yuzlab kompyuter, mebel va texnika bor — ammo ular qayerda, kimda va qanday holatda ekani noaniq.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345643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109728" cy="20116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7860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⚠  Yo'qotish va chalkashlik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35808"/>
            <a:ext cx="29809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Qaysi jihoz kimda — aniq emas. Aktivlar yo'qoladi, javobgar topilmaydi, zarar hisoblanmaydi.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377440"/>
            <a:ext cx="345643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377440"/>
            <a:ext cx="109728" cy="20116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57860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🔍  Audit qiyin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035808"/>
            <a:ext cx="29809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O'zgarishlar qayd etilmaydi. Inventarizatsiya qo'lda, uzoq va xatolarga to'la kechadi.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377440"/>
            <a:ext cx="3456432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2377440"/>
            <a:ext cx="109728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257860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📉  Tahlil yo'q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3035808"/>
            <a:ext cx="29809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Qaysi aktiv tez buziladi, qancha eskirgan, qachon almashtirish kerak — hech kim bilmaydi.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09160"/>
            <a:ext cx="10908792" cy="10515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5604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Natija:  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aktivlar ustidan nazorat yo'qoladi, byudjet samarasiz sarflanadi, qarorlar ma'lumotsiz qabul qilinadi.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Segoe UI"/>
              </a:rPr>
              <a:t>BANKIR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Yechim: Bankir AI — yagona aqlli platforma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Ro'yxatga olish, biriktirish, QR-kuzatuv, audit va sun'iy intellekt tahlili — barchasi bitta tizimda.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3456432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109728" cy="23317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2432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🗂  Markazlashgan hisob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81528"/>
            <a:ext cx="298094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Filial → bo'lim → xodim → aktiv ierarxiyasi. Har bir jihozning to'liq hayot sikli va joriy holati.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423160"/>
            <a:ext cx="3456432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423160"/>
            <a:ext cx="109728" cy="23317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62432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🔗  QR +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081528"/>
            <a:ext cx="298094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Har aktivga QR-kod — bir skanlash bilan ma'lumot. Har o'zgarish audit jurnaliga avtomatik yoziladi.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423160"/>
            <a:ext cx="3456432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2423160"/>
            <a:ext cx="109728" cy="23317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262432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✨  Gemini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3081528"/>
            <a:ext cx="298094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10 ta AI funksiya: nosozlik bashorati, AI Vision, chatbot, boshqaruv hisoboti va boshqalar.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10908792" cy="86868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75504"/>
            <a:ext cx="102412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155"/>
                </a:solidFill>
                <a:latin typeface="Segoe UI"/>
              </a:rPr>
              <a:t>Excel'dan </a:t>
            </a:r>
            <a:r>
              <a:rPr sz="1500" b="1" i="0">
                <a:solidFill>
                  <a:srgbClr val="1D4ED8"/>
                </a:solidFill>
                <a:latin typeface="Segoe UI"/>
              </a:rPr>
              <a:t>→  AI bilan ishlaydigan real boshqaruv tizimiga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 o'tish.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JARAYON · 4 QADAM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Qanday ishlaydi?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7004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487168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9689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49300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F172A"/>
                </a:solidFill>
                <a:latin typeface="Segoe UI"/>
              </a:rPr>
              <a:t>Ro'yxatga olish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50208"/>
            <a:ext cx="21214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Aktiv qo'shiladi. AI rasmdan nomi, kategoriyasi va narxini o'zi to'ldiradi.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2194560"/>
            <a:ext cx="267004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12464" y="2487168"/>
            <a:ext cx="822960" cy="8229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4" y="259689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4" y="349300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F172A"/>
                </a:solidFill>
                <a:latin typeface="Segoe UI"/>
              </a:rPr>
              <a:t>QR-kod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3950208"/>
            <a:ext cx="21214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Har aktivga noyob QR-kod generatsiya qilinadi — skanlab bir zumda ma'lumot.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4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194560"/>
            <a:ext cx="267004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2487168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59689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9300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F172A"/>
                </a:solidFill>
                <a:latin typeface="Segoe UI"/>
              </a:rPr>
              <a:t>Biriktirish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50208"/>
            <a:ext cx="21214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Aktiv xodimga biriktiriladi. Har bir o'zgarish audit jurnaliga yoziladi.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20040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9408" y="2194560"/>
            <a:ext cx="267004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72016" y="2487168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6" y="259689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349300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F172A"/>
                </a:solidFill>
                <a:latin typeface="Segoe UI"/>
              </a:rPr>
              <a:t>AI tahlil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3950208"/>
            <a:ext cx="21214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Gemini AI nosozlik xavfini bashorat qiladi va boshqaruv hisobotini yozadi.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ASOSIY MODULLAR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Platforma imkoniyatlari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9728" cy="1874519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🗂  Aktivlar hayot sikli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15768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Ro'yxat, status (5 holat), biriktirish/qaytarish, tarix — to'liq lifecycle.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057400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79392" y="2057400"/>
            <a:ext cx="109728" cy="1874519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5856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🏢  Ierarxik tuzilma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15768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Filial → bo'lim → xodim → aktiv. Har darajada statistika va nazorat.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2057400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8704" y="2057400"/>
            <a:ext cx="109728" cy="1874519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25856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🔗  QR-kod kuzatuvi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715768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Avtomatik QR generatsiya, kamera bilan skanlash, mobil sahifa.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78223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078223"/>
            <a:ext cx="109728" cy="1874519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279391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📜  Audit jurnali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736591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Har bir amal (yaratish, status, biriktirish) vaqt va foydalanuvchi bilan qayd etiladi.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4078223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79392" y="4078223"/>
            <a:ext cx="109728" cy="1874519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279391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🔔  So'rovlar tizimi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36591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Xodim nosozlik/almashtirishni so'raydi, admin tasdiqlaydi — bildirishnoma bilan.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4078223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18704" y="4078223"/>
            <a:ext cx="109728" cy="1874519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4279391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📊  Statistika &amp; grafiklar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4736591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Dashboard: status, kategoriya, bo'lim, eskirish, kafolat — Recharts vizual.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LOYIHANING YURAGI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10 ta sun'iy intellekt funksiyasi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157984" cy="1481328"/>
          </a:xfrm>
          <a:prstGeom prst="roundRect">
            <a:avLst>
              <a:gd name="adj" fmla="val 8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293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5856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AI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24328"/>
            <a:ext cx="1792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0" i="0">
                <a:solidFill>
                  <a:srgbClr val="B7C7E6"/>
                </a:solidFill>
                <a:latin typeface="Segoe UI"/>
              </a:rPr>
              <a:t>Aktiv rasmidan nomi, kategoriya, narxni aniqlaydi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783080"/>
            <a:ext cx="2157984" cy="1481328"/>
          </a:xfrm>
          <a:prstGeom prst="roundRect">
            <a:avLst>
              <a:gd name="adj" fmla="val 8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9293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5856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Auto-fill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24328"/>
            <a:ext cx="1792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0" i="0">
                <a:solidFill>
                  <a:srgbClr val="B7C7E6"/>
                </a:solidFill>
                <a:latin typeface="Segoe UI"/>
              </a:rPr>
              <a:t>Nom asosida barcha maydonlarni to'ldiradi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1783080"/>
            <a:ext cx="2157984" cy="1481328"/>
          </a:xfrm>
          <a:prstGeom prst="roundRect">
            <a:avLst>
              <a:gd name="adj" fmla="val 8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19293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25856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Kategoriya tavsiyasi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624328"/>
            <a:ext cx="1792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0" i="0">
                <a:solidFill>
                  <a:srgbClr val="B7C7E6"/>
                </a:solidFill>
                <a:latin typeface="Segoe UI"/>
              </a:rPr>
              <a:t>Eng mos kategoriyani ishonch foizi bilan tanlaydi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6" y="1783080"/>
            <a:ext cx="2157984" cy="1481328"/>
          </a:xfrm>
          <a:prstGeom prst="roundRect">
            <a:avLst>
              <a:gd name="adj" fmla="val 8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4" y="19293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225856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Nosozlik bashorati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4" y="2624328"/>
            <a:ext cx="1792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0" i="0">
                <a:solidFill>
                  <a:srgbClr val="B7C7E6"/>
                </a:solidFill>
                <a:latin typeface="Segoe UI"/>
              </a:rPr>
              <a:t>MTBR va trend asosida keyingi nosozlikni taxminlaydi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1783080"/>
            <a:ext cx="2157984" cy="1481328"/>
          </a:xfrm>
          <a:prstGeom prst="roundRect">
            <a:avLst>
              <a:gd name="adj" fmla="val 8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096" y="19293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6" y="225856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Muammoli aktivlar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2624328"/>
            <a:ext cx="1792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0" i="0">
                <a:solidFill>
                  <a:srgbClr val="B7C7E6"/>
                </a:solidFill>
                <a:latin typeface="Segoe UI"/>
              </a:rPr>
              <a:t>Izoh matnlarini tahlil qilib muammolarni aniqlaydi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392424"/>
            <a:ext cx="2157984" cy="1481328"/>
          </a:xfrm>
          <a:prstGeom prst="roundRect">
            <a:avLst>
              <a:gd name="adj" fmla="val 8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5387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3867912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Audit tavsiyalari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233672"/>
            <a:ext cx="1792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0" i="0">
                <a:solidFill>
                  <a:srgbClr val="B7C7E6"/>
                </a:solidFill>
                <a:latin typeface="Segoe UI"/>
              </a:rPr>
              <a:t>Inventarizatsiya bo'shliqlari va trendlarni topadi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7792" y="3392424"/>
            <a:ext cx="2157984" cy="1481328"/>
          </a:xfrm>
          <a:prstGeom prst="roundRect">
            <a:avLst>
              <a:gd name="adj" fmla="val 8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35387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3867912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AI Chatbot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233672"/>
            <a:ext cx="1792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0" i="0">
                <a:solidFill>
                  <a:srgbClr val="B7C7E6"/>
                </a:solidFill>
                <a:latin typeface="Segoe UI"/>
              </a:rPr>
              <a:t>Tabiiy tilda savol — real ma'lumot bilan javob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75504" y="3392424"/>
            <a:ext cx="2157984" cy="1481328"/>
          </a:xfrm>
          <a:prstGeom prst="roundRect">
            <a:avLst>
              <a:gd name="adj" fmla="val 8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6672" y="35387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6672" y="3867912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Boshqaruv hisoboti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6672" y="4233672"/>
            <a:ext cx="1792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0" i="0">
                <a:solidFill>
                  <a:srgbClr val="B7C7E6"/>
                </a:solidFill>
                <a:latin typeface="Segoe UI"/>
              </a:rPr>
              <a:t>Butun inventar bo'yicha bir bosishda hisobot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43216" y="3392424"/>
            <a:ext cx="2157984" cy="1481328"/>
          </a:xfrm>
          <a:prstGeom prst="roundRect">
            <a:avLst>
              <a:gd name="adj" fmla="val 8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44384" y="35387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4384" y="3867912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Shaxsiy yordamchi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44384" y="4233672"/>
            <a:ext cx="1792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0" i="0">
                <a:solidFill>
                  <a:srgbClr val="B7C7E6"/>
                </a:solidFill>
                <a:latin typeface="Segoe UI"/>
              </a:rPr>
              <a:t>Xodimga faqat o'z aktivlari bo'yicha yordam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10928" y="3392424"/>
            <a:ext cx="2157984" cy="1481328"/>
          </a:xfrm>
          <a:prstGeom prst="roundRect">
            <a:avLst>
              <a:gd name="adj" fmla="val 8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12096" y="35387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12096" y="3867912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QR AI-xulosa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12096" y="4233672"/>
            <a:ext cx="1792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0" i="0">
                <a:solidFill>
                  <a:srgbClr val="B7C7E6"/>
                </a:solidFill>
                <a:latin typeface="Segoe UI"/>
              </a:rPr>
              <a:t>Skanlanganda aktiv haqida qisqa AI sharh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7C7E6"/>
                </a:solidFill>
                <a:latin typeface="Segoe UI"/>
              </a:rPr>
              <a:t>Hammasi bitta Gemini integratsiyasi ustida — </a:t>
            </a:r>
            <a:r>
              <a:rPr sz="1300" b="1" i="0">
                <a:solidFill>
                  <a:srgbClr val="06B6D4"/>
                </a:solidFill>
                <a:latin typeface="Segoe UI"/>
              </a:rPr>
              <a:t>multimodal (matn + rasm)</a:t>
            </a:r>
            <a:r>
              <a:rPr sz="1300" b="0" i="0">
                <a:solidFill>
                  <a:srgbClr val="B7C7E6"/>
                </a:solidFill>
                <a:latin typeface="Segoe UI"/>
              </a:rPr>
              <a:t> va real bank ma'lumotlariga asoslangan.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CB3D6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9CB3D6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AI CHUQURROQ · PREDICTIVE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Nosozlik bashorati — "ChatGPT chaqirish"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4155"/>
                </a:solidFill>
                <a:latin typeface="Segoe UI"/>
              </a:rPr>
              <a:t>AI ga yuborishdan oldin tizim haqiqiy muhandislik ko'rsatkichlarini hisoblaydi: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67004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2670048" cy="914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49631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Segoe UI"/>
              </a:rPr>
              <a:t>MTBR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017520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Ta'mirlar orasidagi o'rtacha vaqt — audit loglardan hisoblanadi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2240280"/>
            <a:ext cx="267004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9856" y="2240280"/>
            <a:ext cx="2670048" cy="914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49631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Segoe UI"/>
              </a:rPr>
              <a:t>Repair 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17520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Nosozlik tezlashmoqdami? (oxirgi interval o'rtachadan qisqami)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240280"/>
            <a:ext cx="267004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9632" y="2240280"/>
            <a:ext cx="2670048" cy="914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49631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Segoe UI"/>
              </a:rPr>
              <a:t>Predicted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017520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Keyingi nosozlikkacha taxminiy kunlar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408" y="2240280"/>
            <a:ext cx="267004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79408" y="2240280"/>
            <a:ext cx="2670048" cy="914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249631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Segoe UI"/>
              </a:rPr>
              <a:t>Risk score 0–100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3017520"/>
            <a:ext cx="2212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Yosh, ta'mir soni, kafolat, trend — vaznli ball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43400"/>
            <a:ext cx="10908792" cy="14173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5371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Segoe UI"/>
              </a:rPr>
              <a:t>Pipeline: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Audit loglar  →  statistik hisob (MTBR, trend, risk)  →  Gemini bashorat va tavsiya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C2D2EE"/>
                </a:solidFill>
                <a:latin typeface="Segoe UI"/>
              </a:rPr>
              <a:t>Natija: AI "qaysi aktiv 30 kun ichida nosoz bo'lishi mumkin" deb aniq, izohlangan bashorat beradi — taxmin emas.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MULTIMODAL · TEZKOR KIRITISH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AI Vision va avtomatik to'ldirish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9496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9496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📷  AI Vision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017520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008376"/>
            <a:ext cx="2377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71800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Aktiv rasmini yuklang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493008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83864"/>
            <a:ext cx="2377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47288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Gemini rasmni tahlil qiladi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968496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59352"/>
            <a:ext cx="2377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22776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Nomi, brend/model, kategoriya aniqlanadi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443984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434840"/>
            <a:ext cx="2377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98264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Holati, taxminiy narx (so'mda), foydali umr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4919472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910328"/>
            <a:ext cx="2377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873752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Forma avtomatik to'ldiriladi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920240"/>
            <a:ext cx="5376672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200" y="1920240"/>
            <a:ext cx="5376672" cy="7772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103120"/>
            <a:ext cx="4828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Segoe UI"/>
              </a:rPr>
              <a:t>⌨  Matnli Auto-fill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926080"/>
            <a:ext cx="4645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155"/>
                </a:solidFill>
                <a:latin typeface="Segoe UI"/>
              </a:rPr>
              <a:t>Faqat aktiv nomini yozing — qolgani AI tomonidan: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5204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520440"/>
            <a:ext cx="41879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Kategoriya + ishonch foizi (confidence)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99592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995928"/>
            <a:ext cx="41879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Professional tavsif (o'zbekcha)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4714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471416"/>
            <a:ext cx="41879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O'zbekiston bozoriga mos taxminiy narx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4690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946904"/>
            <a:ext cx="41879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Kategoriya bo'yicha foydali umr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919472"/>
            <a:ext cx="4645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1D4ED8"/>
                </a:solidFill>
                <a:latin typeface="Segoe UI"/>
              </a:rPr>
              <a:t>Aktiv kiritish bir necha soniyaga qisqaradi.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TABIIY TIL · AVTO-HISOBOT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AI Chatbot va boshqaruv hisoboti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D4ED8"/>
                </a:solidFill>
                <a:latin typeface="Segoe UI"/>
              </a:rPr>
              <a:t>💬  AI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Tabiiy tilda savol bering — tizim intent'ni aniqlab real ma'lumot bilan javob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337560"/>
            <a:ext cx="4754880" cy="420624"/>
          </a:xfrm>
          <a:prstGeom prst="roundRect">
            <a:avLst>
              <a:gd name="adj" fmla="val 50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01568"/>
            <a:ext cx="4480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334155"/>
                </a:solidFill>
                <a:latin typeface="Segoe UI"/>
              </a:rPr>
              <a:t>"BNK-LAP-2026-0007 qayerda?"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849624"/>
            <a:ext cx="4754880" cy="420624"/>
          </a:xfrm>
          <a:prstGeom prst="roundRect">
            <a:avLst>
              <a:gd name="adj" fmla="val 50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13632"/>
            <a:ext cx="4480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334155"/>
                </a:solidFill>
                <a:latin typeface="Segoe UI"/>
              </a:rPr>
              <a:t>"IT bo'limida nechta aktiv bor?"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361688"/>
            <a:ext cx="4754880" cy="420624"/>
          </a:xfrm>
          <a:prstGeom prst="roundRect">
            <a:avLst>
              <a:gd name="adj" fmla="val 50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425696"/>
            <a:ext cx="4480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334155"/>
                </a:solidFill>
                <a:latin typeface="Segoe UI"/>
              </a:rPr>
              <a:t>"Eng qimmat 5 ta jihozni ko'rsat"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873752"/>
            <a:ext cx="4754880" cy="420624"/>
          </a:xfrm>
          <a:prstGeom prst="roundRect">
            <a:avLst>
              <a:gd name="adj" fmla="val 50000"/>
            </a:avLst>
          </a:prstGeom>
          <a:solidFill>
            <a:srgbClr val="EC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60"/>
            <a:ext cx="4480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334155"/>
                </a:solidFill>
                <a:latin typeface="Segoe UI"/>
              </a:rPr>
              <a:t>"Bu oy o'tgan oyga nisbatan qanday?"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828800"/>
            <a:ext cx="5376672" cy="3749039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4828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9E0B"/>
                </a:solidFill>
                <a:latin typeface="Segoe UI"/>
              </a:rPr>
              <a:t>📑  Boshqaruv hisoboti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4736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2D2EE"/>
                </a:solidFill>
                <a:latin typeface="Segoe UI"/>
              </a:rPr>
              <a:t>Bir bosishda AI butun inventar bo'yicha professional hisobot yozadi: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832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4279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Umumiy xulosa (executive summary)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862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886200"/>
            <a:ext cx="4279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Asosiy ko'rsatkichlar (key metrics)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891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389120"/>
            <a:ext cx="4279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4–6 bo'lim: status, eskirish, kafolat, xavf, moliya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920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892040"/>
            <a:ext cx="4279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Aniq tavsiyalar ro'yxati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MUHANDISLIK · UPTIME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Ishonchlilik: ko'p kalit va model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4155"/>
                </a:solidFill>
                <a:latin typeface="Segoe UI"/>
              </a:rPr>
              <a:t>Bepul Gemini limitlari (RPM/RPD) AI ni to'xtatmasligi uchun avtomatik zaxira tizimi: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gemini-2.5-flash-lite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535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06B6D4"/>
                </a:solidFill>
                <a:latin typeface="Segoe UI"/>
              </a:rPr>
              <a:t>15 RPM · 1000/kun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265176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4" y="23317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25328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gemini-2.5-flash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9535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06B6D4"/>
                </a:solidFill>
                <a:latin typeface="Segoe UI"/>
              </a:rPr>
              <a:t>10 RPM · 250/kun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265176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233172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5328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gemini-2.5-pro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95351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06B6D4"/>
                </a:solidFill>
                <a:latin typeface="Segoe UI"/>
              </a:rPr>
              <a:t>5 RPM · 100/kun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53949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794760"/>
            <a:ext cx="9144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136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Multi-key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GEMINI_API_KEYS — bir nechta kalit; biri tugasa keyingisi.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3794760"/>
            <a:ext cx="53949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53912" y="3794760"/>
            <a:ext cx="9144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9136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Multi-model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251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Har kalitda 3 model ketma-ket sinaladi (arzon → kuchli).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82312"/>
            <a:ext cx="53949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782312"/>
            <a:ext cx="9144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011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Aqlli xotira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395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Limitga tushgan kalit+model 24 soat o'tkazib yuboriladi.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3912" y="4782312"/>
            <a:ext cx="53949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53912" y="4782312"/>
            <a:ext cx="9144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9011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Shaffof bosqichlar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52395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Frontend'ga "qaysi manba ishladi" qadamlari qaytariladi.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Texnologiyalar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7004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670048" cy="71323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6700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8036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FastAPI 0.115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310128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SQLAlchemy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989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739896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Pydantic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96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169664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JWT (python-jose)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943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599432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qrcode + Pillow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563EB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02920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openpyxl (Excel)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9856" y="1920240"/>
            <a:ext cx="267004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19856" y="1920240"/>
            <a:ext cx="2670048" cy="713232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9856" y="2103120"/>
            <a:ext cx="26700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Segoe UI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28803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Segoe U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288036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React 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331012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Segoe U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3310128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Vite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373989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Segoe U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3739896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TypeScript 5.9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41696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Segoe U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0208" y="4169664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Ant Design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94176" y="459943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Segoe U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4599432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Recharts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176" y="5029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6B6D4"/>
                </a:solidFill>
                <a:latin typeface="Segoe U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0208" y="502920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html5-qrcode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1920240"/>
            <a:ext cx="267004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99632" y="1920240"/>
            <a:ext cx="2670048" cy="71323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2103120"/>
            <a:ext cx="26700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1F3A"/>
                </a:solidFill>
                <a:latin typeface="Segoe UI"/>
              </a:rPr>
              <a:t>AI &amp;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28803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288036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Google Gemini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331012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9984" y="3310128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google-genai 1.14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73989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4" y="3739896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Multimodal Vision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41696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4" y="4169664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PostgreSQL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459943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4599432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SQLite (lokal)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5029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9984" y="502920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Multi-key fallback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79408" y="1920240"/>
            <a:ext cx="267004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79408" y="1920240"/>
            <a:ext cx="2670048" cy="71323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79408" y="2103120"/>
            <a:ext cx="26700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DevOps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3728" y="28803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288036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Docker (1 servis)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53728" y="331012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3310128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Railway deploy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53728" y="373989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3739896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SPA + API bitta domen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16966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9760" y="4169664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Seed demo data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53728" y="459943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4599432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i18n UZ/RU/EN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53728" y="5029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Segoe UI"/>
              </a:rP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5029200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Dark/Light tema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ARXITEKTURA ·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Yagona servis — soddalik va ishonchlilik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Foydalanuvchi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brauzeri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688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01168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3172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React SPA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(static build)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33172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FastAPI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(REST + SPA serve)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4688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01168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33172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PostgreSQL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(yoki SQLite)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840480"/>
            <a:ext cx="3108960" cy="9144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0690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Segoe UI"/>
              </a:rPr>
              <a:t>☁  Gemini AI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4290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59E0B"/>
                </a:solidFill>
                <a:latin typeface="Segoe UI"/>
              </a:rP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65760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5760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2D2EE"/>
                </a:solidFill>
                <a:latin typeface="Segoe UI"/>
              </a:rPr>
              <a:t>Bitta Docker image: frontend build + 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16052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1605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2D2EE"/>
                </a:solidFill>
                <a:latin typeface="Segoe UI"/>
              </a:rPr>
              <a:t>Bitta domen → CORS muammosi yo'q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6634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66344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2D2EE"/>
                </a:solidFill>
                <a:latin typeface="Segoe UI"/>
              </a:rPr>
              <a:t>Railway'ga bir klikda 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16636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6636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2D2EE"/>
                </a:solidFill>
                <a:latin typeface="Segoe UI"/>
              </a:rPr>
              <a:t>Bo'sh DB avtomatik seed bilan to'ladi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CB3D6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9CB3D6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ROLE-BASED · 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Rollar va xavfsizlik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394960" cy="914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👑  Admin / Rahbariyat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To'liq boshqaruv: aktiv, xodim, filial, kategoriya, so'rovlarni tasdiqlash, barcha AI tahlillar va hisobotlar.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92024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920240"/>
            <a:ext cx="5394960" cy="914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1945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Segoe UI"/>
              </a:rPr>
              <a:t>👤  Xodim (User)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7432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Faqat o'z aktivlarini ko'radi, QR skanlaydi, so'rov yuboradi, shaxsiy AI yordamchidan foydalanadi.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2670048" cy="169164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114800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54456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JWT autentifikatsiya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946904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7C7E6"/>
                </a:solidFill>
                <a:latin typeface="Segoe UI"/>
              </a:rPr>
              <a:t>Token asosidagi kirish, himoyalangan endpointlar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9856" y="3886200"/>
            <a:ext cx="2670048" cy="169164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4114800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454456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Parol hashing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946904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7C7E6"/>
                </a:solidFill>
                <a:latin typeface="Segoe UI"/>
              </a:rPr>
              <a:t>bcrypt bilan — parollar ochiq saqlanmaydi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886200"/>
            <a:ext cx="2670048" cy="169164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4114800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54456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Audit jurnali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4946904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7C7E6"/>
                </a:solidFill>
                <a:latin typeface="Segoe UI"/>
              </a:rPr>
              <a:t>Har amal kim va qachon — to'liq kuzatuv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8" y="3886200"/>
            <a:ext cx="2670048" cy="169164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114800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544568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Status o'tishlari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946904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B7C7E6"/>
                </a:solidFill>
                <a:latin typeface="Segoe UI"/>
              </a:rPr>
              <a:t>Faqat ruxsat etilgan holat o'tishlari (state machine)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DEMO MA'LUMOTLARI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Tayyor demo — bir buyruqda to'ladi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456431"/>
            <a:ext cx="3456432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39"/>
            <a:ext cx="34564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4951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2D2EE"/>
                </a:solidFill>
                <a:latin typeface="Segoe UI"/>
              </a:rPr>
              <a:t>Filial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15384" y="1874519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15384" y="3456431"/>
            <a:ext cx="3456432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4" y="2148839"/>
            <a:ext cx="34564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3044951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2D2EE"/>
                </a:solidFill>
                <a:latin typeface="Segoe UI"/>
              </a:rPr>
              <a:t>Bo'lim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1874519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90688" y="3456431"/>
            <a:ext cx="3456432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148839"/>
            <a:ext cx="34564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044951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2D2EE"/>
                </a:solidFill>
                <a:latin typeface="Segoe UI"/>
              </a:rPr>
              <a:t>Kategoriya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30751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312663"/>
            <a:ext cx="3456432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05071"/>
            <a:ext cx="34564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100+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01183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2D2EE"/>
                </a:solidFill>
                <a:latin typeface="Segoe UI"/>
              </a:rPr>
              <a:t>Aktiv (QR bilan)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15384" y="3730751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15384" y="5312663"/>
            <a:ext cx="3456432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4" y="4005071"/>
            <a:ext cx="34564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4" y="4901183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2D2EE"/>
                </a:solidFill>
                <a:latin typeface="Segoe UI"/>
              </a:rPr>
              <a:t>AI funksiya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90688" y="3730751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90688" y="5312663"/>
            <a:ext cx="3456432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4005071"/>
            <a:ext cx="34564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901183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2D2EE"/>
                </a:solidFill>
                <a:latin typeface="Segoe UI"/>
              </a:rPr>
              <a:t>Til (UZ/RU/EN)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9E0B"/>
                </a:solidFill>
                <a:latin typeface="Segoe UI"/>
              </a:rPr>
              <a:t>Demo login:  </a:t>
            </a:r>
            <a:r>
              <a:rPr sz="1400" b="1" i="0">
                <a:solidFill>
                  <a:srgbClr val="FFFFFF"/>
                </a:solidFill>
                <a:latin typeface="Segoe UI"/>
              </a:rPr>
              <a:t>admin / admin123</a:t>
            </a:r>
            <a:r>
              <a:rPr sz="1300" b="0" i="0">
                <a:solidFill>
                  <a:srgbClr val="B7C7E6"/>
                </a:solidFill>
                <a:latin typeface="Segoe UI"/>
              </a:rPr>
              <a:t>   —   xodimlar, aktivlar, biriktirish tarixi va audit loglar tayyor.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CB3D6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9CB3D6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AFZALLIKLAR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Nega Bankir AI ajralib turadi?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09728" cy="1874519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75687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🎯  Real AI, demo 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32887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AI haqiqiy bank ma'lumotlari ustida ishlaydi — MTBR, trend, audit tahlili. Sun'iy emas.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874519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79392" y="1874519"/>
            <a:ext cx="109728" cy="1874519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7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🖼 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32887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Matn + rasm (Vision). Foto yuklab aktivni soniyalarda kiritish.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874519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8704" y="1874519"/>
            <a:ext cx="109728" cy="1874519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75687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📦  To'liq mahsulot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532887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Auth, rollar, audit, QR, statistika, so'rovlar — nafaqat AI demo, balki ishlaydigan tizim.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95342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895342"/>
            <a:ext cx="109728" cy="1874519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9651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🛡  Ishonchli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553710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Multi-key + multi-model fallback — limit ham AI ni to'xtatmaydi.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895342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79392" y="3895342"/>
            <a:ext cx="109728" cy="1874519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09651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🇺🇿  Lokalga mos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53710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O'zbek tili, so'm narxlar, UZ/RU/EN interfeys, bank konteksti.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3895342"/>
            <a:ext cx="3529584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18704" y="3895342"/>
            <a:ext cx="109728" cy="1874519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409651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Segoe UI"/>
              </a:rPr>
              <a:t>🚀  Bir klik 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4553710"/>
            <a:ext cx="3054096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Docker + Railway, bitta domen, avtomatik seed. Darhol ishlaydi.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Kelajak rejalari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6152" y="1965960"/>
            <a:ext cx="36576" cy="3428122176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02082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Mobil ilova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65960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Native QR skaner va push-bildirishnomalar bilan mobil versiya.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7706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71576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Voice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15768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Ovozli buyruqlar va savol-javob (speech-to-text).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52044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465576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1C / ERP integratsiya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65576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Buxgalteriya va ERP tizimlari bilan ikki tomonlama sinxron.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27024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215384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Avto-hisobot jadval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215384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Haftalik/oylik AI hisobotlar e-mail orqali avtomatik.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5020056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96519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Bashorat aniqligi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965192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Ko'proq ma'lumot bilan ML modelni o'qitish va kalibrlash.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4748B"/>
                </a:solidFill>
                <a:latin typeface="Segoe UI"/>
              </a:rPr>
              <a:t>Bankir AI</a:t>
            </a:r>
            <a:r>
              <a:rPr sz="1100" b="0" i="0">
                <a:solidFill>
                  <a:srgbClr val="64748B"/>
                </a:solidFill>
                <a:latin typeface="Segoe UI"/>
              </a:rPr>
              <a:t>  ·  Jizzax AI Hackathon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645920"/>
            <a:ext cx="5486400" cy="5486400"/>
          </a:xfrm>
          <a:prstGeom prst="ellipse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18872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5272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Segoe UI"/>
              </a:rPr>
              <a:t>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2344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BANKIR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Segoe UI"/>
              </a:rPr>
              <a:t>Rahmat!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2D2EE"/>
                </a:solidFill>
                <a:latin typeface="Segoe UI"/>
              </a:rPr>
              <a:t>Bank aktivlarini sun'iy intellekt bilan boshqarishning zamonaviy yo'li.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46320"/>
            <a:ext cx="10515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9E0B"/>
                </a:solidFill>
                <a:latin typeface="Segoe UI"/>
              </a:rPr>
              <a:t>Savollaringiz bormi?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CB3D6"/>
                </a:solidFill>
                <a:latin typeface="Segoe UI"/>
              </a:rPr>
              <a:t>Demo: 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/  login: admin / admin123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CB3D6"/>
                </a:solidFill>
                <a:latin typeface="Segoe UI"/>
              </a:rPr>
              <a:t>Jizzax AI Hackathon 2026  ·  FastAPI · React · Gemini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